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914400"/>
            <a:ext cx="5486400" cy="3657600"/>
          </a:xfrm>
          <a:prstGeom prst="ellipse">
            <a:avLst/>
          </a:prstGeom>
          <a:solidFill>
            <a:srgbClr val="59D67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E5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SYNTACK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FLOW STORYBOARD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0F2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Deckbuilder — Screen-by-Screen Flow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FLOW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645920" cy="1280160"/>
          </a:xfrm>
          <a:prstGeom prst="roundRect">
            <a:avLst>
              <a:gd name="adj" fmla="val 10714"/>
            </a:avLst>
          </a:prstGeom>
          <a:solidFill>
            <a:srgbClr val="FE5F55">
              <a:alpha val="20000"/>
            </a:srgbClr>
          </a:solidFill>
          <a:ln w="25400">
            <a:solidFill>
              <a:srgbClr val="FE5F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E5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SPLASH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Screen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1920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EF0F2">
                    <a:alpha val="50000"/>
                  </a:srgbClr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834640" y="1645920"/>
            <a:ext cx="1645920" cy="1280160"/>
          </a:xfrm>
          <a:prstGeom prst="roundRect">
            <a:avLst>
              <a:gd name="adj" fmla="val 10714"/>
            </a:avLst>
          </a:prstGeom>
          <a:solidFill>
            <a:srgbClr val="009DDC">
              <a:alpha val="20000"/>
            </a:srgbClr>
          </a:solidFill>
          <a:ln w="25400">
            <a:solidFill>
              <a:srgbClr val="009D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828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D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Menu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920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EF0F2">
                    <a:alpha val="50000"/>
                  </a:srgbClr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937760" y="1645920"/>
            <a:ext cx="1645920" cy="1280160"/>
          </a:xfrm>
          <a:prstGeom prst="roundRect">
            <a:avLst>
              <a:gd name="adj" fmla="val 10714"/>
            </a:avLst>
          </a:prstGeom>
          <a:solidFill>
            <a:srgbClr val="59D67A">
              <a:alpha val="20000"/>
            </a:srgbClr>
          </a:solidFill>
          <a:ln w="25400">
            <a:solidFill>
              <a:srgbClr val="59D6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828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D6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ARENA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Screen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1920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EF0F2">
                    <a:alpha val="50000"/>
                  </a:srgbClr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040880" y="1645920"/>
            <a:ext cx="1645920" cy="1280160"/>
          </a:xfrm>
          <a:prstGeom prst="roundRect">
            <a:avLst>
              <a:gd name="adj" fmla="val 10714"/>
            </a:avLst>
          </a:prstGeom>
          <a:solidFill>
            <a:srgbClr val="F5C542">
              <a:alpha val="20000"/>
            </a:srgbClr>
          </a:solidFill>
          <a:ln w="25400">
            <a:solidFill>
              <a:srgbClr val="F5C5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828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REWARD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Clear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0" y="1920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EF0F2">
                    <a:alpha val="50000"/>
                  </a:srgbClr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0" y="1645920"/>
            <a:ext cx="1645920" cy="1280160"/>
          </a:xfrm>
          <a:prstGeom prst="roundRect">
            <a:avLst>
              <a:gd name="adj" fmla="val 10714"/>
            </a:avLst>
          </a:prstGeom>
          <a:solidFill>
            <a:srgbClr val="8957E5">
              <a:alpha val="20000"/>
            </a:srgbClr>
          </a:solidFill>
          <a:ln w="25400">
            <a:solidFill>
              <a:srgbClr val="8957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1828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957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Victory/Defeat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4-Node Campaign: FIREWALL DAEMON → INTRUSION WRAITH → LOGIC BOMBER → MAINFRAME 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D67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→ RUN HACK → Draw 5 Cards → Play Cards → EXECUTE TURN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526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D67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Enemy Counter-Attack → Repeat Until Node Clear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D67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Reward → Next Node → Escalating Difficulty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5349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D67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Boss (Node 4) → VICTORY or Game Over → DEFEAT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E5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— SPLASH SCREEN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0" y="1188720"/>
            <a:ext cx="6858000" cy="4389120"/>
          </a:xfrm>
          <a:prstGeom prst="roundRect">
            <a:avLst>
              <a:gd name="adj" fmla="val 4167"/>
            </a:avLst>
          </a:prstGeom>
          <a:solidFill>
            <a:srgbClr val="0B3D2E"/>
          </a:solidFill>
          <a:ln w="25400">
            <a:solidFill>
              <a:srgbClr val="59D67A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16459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E5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SYNTACK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0" y="2377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9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DECKBUILDER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2743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THE MAINFRAME. CONTROL THE LOOPS.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rot="-720000">
            <a:off x="3840480" y="32918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262A3A"/>
          </a:solidFill>
          <a:ln w="19050">
            <a:solidFill>
              <a:srgbClr val="895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310896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262A3A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720000">
            <a:off x="6217920" y="32918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262A3A"/>
          </a:solidFill>
          <a:ln w="19050">
            <a:solidFill>
              <a:srgbClr val="009D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438912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FE5F55"/>
          </a:solidFill>
          <a:ln w="25400">
            <a:solidFill>
              <a:srgbClr val="FFB4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4389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▶ PLAY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D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Glitch RGB-split title effect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D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Holographic card fan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D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CRT scanline overlay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D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Click enables Web Audio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Transition: screen fade-out → fade-in to Home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D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— HOME MENU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26080" y="1188720"/>
            <a:ext cx="5486400" cy="4389120"/>
          </a:xfrm>
          <a:prstGeom prst="roundRect">
            <a:avLst>
              <a:gd name="adj" fmla="val 4167"/>
            </a:avLst>
          </a:prstGeom>
          <a:solidFill>
            <a:srgbClr val="0B3D2E"/>
          </a:solidFill>
          <a:ln w="254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15544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926080" y="2103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0F2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Menu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0" y="27432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E5F55">
              <a:alpha val="25000"/>
            </a:srgbClr>
          </a:solidFill>
          <a:ln w="19050">
            <a:solidFill>
              <a:srgbClr val="FE5F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2743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RUN HACK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338328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09DDC">
              <a:alpha val="25000"/>
            </a:srgbClr>
          </a:solidFill>
          <a:ln w="19050">
            <a:solidFill>
              <a:srgbClr val="009D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383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📚 CARD ARCHIVE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402336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5C542">
              <a:alpha val="25000"/>
            </a:srgbClr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4023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HOW TO PLAY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F0F2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Audio: ON/OFF  |  Volume: ═══●═══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D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 HACK → fade to Arena, initGame()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1691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D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CARD ARCHIVE → modal overlay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D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TO PLAY → rules modal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2331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D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Audio controls (Web Audio API)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9D6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— ARENA: BATTLE SCREEN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645920" y="1097280"/>
            <a:ext cx="8229600" cy="4754880"/>
          </a:xfrm>
          <a:prstGeom prst="roundRect">
            <a:avLst>
              <a:gd name="adj" fmla="val 3846"/>
            </a:avLst>
          </a:prstGeom>
          <a:solidFill>
            <a:srgbClr val="0B3D2E"/>
          </a:solidFill>
          <a:ln w="38100">
            <a:solidFill>
              <a:srgbClr val="0A2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D67A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FELT TABLE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0" y="1371600"/>
            <a:ext cx="7863840" cy="457200"/>
          </a:xfrm>
          <a:prstGeom prst="rect">
            <a:avLst/>
          </a:prstGeom>
          <a:solidFill>
            <a:srgbClr val="262A3A"/>
          </a:solidFill>
          <a:ln w="6350">
            <a:solidFill>
              <a:srgbClr val="EEF0F2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F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◂ MENU          NODE 1/4          AUDIO: 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2011680"/>
            <a:ext cx="1463040" cy="822960"/>
          </a:xfrm>
          <a:prstGeom prst="roundRect">
            <a:avLst>
              <a:gd name="adj" fmla="val 6667"/>
            </a:avLst>
          </a:prstGeom>
          <a:solidFill>
            <a:srgbClr val="262A3A"/>
          </a:solidFill>
          <a:ln w="6350">
            <a:solidFill>
              <a:srgbClr val="EEF0F2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011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EF0F2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01168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D6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50/50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49040" y="2011680"/>
            <a:ext cx="1463040" cy="822960"/>
          </a:xfrm>
          <a:prstGeom prst="roundRect">
            <a:avLst>
              <a:gd name="adj" fmla="val 6667"/>
            </a:avLst>
          </a:prstGeom>
          <a:solidFill>
            <a:srgbClr val="262A3A"/>
          </a:solidFill>
          <a:ln w="6350">
            <a:solidFill>
              <a:srgbClr val="EEF0F2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011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EF0F2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74904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D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3/3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0" y="2011680"/>
            <a:ext cx="1463040" cy="822960"/>
          </a:xfrm>
          <a:prstGeom prst="roundRect">
            <a:avLst>
              <a:gd name="adj" fmla="val 6667"/>
            </a:avLst>
          </a:prstGeom>
          <a:solidFill>
            <a:srgbClr val="262A3A"/>
          </a:solidFill>
          <a:ln w="6350">
            <a:solidFill>
              <a:srgbClr val="EEF0F2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011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EF0F2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X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48640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23760" y="2011680"/>
            <a:ext cx="1463040" cy="822960"/>
          </a:xfrm>
          <a:prstGeom prst="roundRect">
            <a:avLst>
              <a:gd name="adj" fmla="val 6667"/>
            </a:avLst>
          </a:prstGeom>
          <a:solidFill>
            <a:srgbClr val="262A3A"/>
          </a:solidFill>
          <a:ln w="6350">
            <a:solidFill>
              <a:srgbClr val="EEF0F2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2011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EF0F2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22376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957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011680" y="301752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000000">
              <a:alpha val="60000"/>
            </a:srgbClr>
          </a:solidFill>
          <a:ln w="6350">
            <a:solidFill>
              <a:srgbClr val="EEF0F2">
                <a:alpha val="1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31089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D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[SYS] Breaching node 1/4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9D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[SYS] Core integrity: 60 HP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9D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Variable 'x' set to 8.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9D6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EXECUTE ATTACK(8)!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011680" y="28803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9DDC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943600" y="301752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1A0A14">
              <a:alpha val="70000"/>
            </a:srgbClr>
          </a:solidFill>
          <a:ln w="12700">
            <a:solidFill>
              <a:srgbClr val="FE5F55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E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FIREWALL DAEMON ◂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43600" y="3337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E5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60/60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8368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E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 ATTACK (8 DMG)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0" y="2880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E5F55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ENEMY PANEL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103120" y="45720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262A3A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4754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EF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8;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103120" y="4572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9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RAM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2743200" y="4572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3611880" y="45720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262A3A"/>
          </a:solidFill>
          <a:ln w="19050">
            <a:solidFill>
              <a:srgbClr val="FE5F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4754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EF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ATTACK(x)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611880" y="4572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9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RAM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251960" y="4572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FE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5120640" y="45720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262A3A"/>
          </a:solidFill>
          <a:ln w="19050">
            <a:solidFill>
              <a:srgbClr val="009D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4754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EF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DEFENSE(8)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120640" y="4572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9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RAM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5760720" y="4572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9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6629400" y="45720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262A3A"/>
          </a:solidFill>
          <a:ln w="19050">
            <a:solidFill>
              <a:srgbClr val="8957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4754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EF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(2x Loop)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629400" y="4572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9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RAM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7269480" y="4572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95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8138160" y="457200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262A3A"/>
          </a:solidFill>
          <a:ln w="19050">
            <a:solidFill>
              <a:srgbClr val="FE5F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38160" y="4754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EF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PURGE()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138160" y="45720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9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RAM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8778240" y="4572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FE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2103120" y="4434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EF0F2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HAND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8686800" y="466344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FE5F55"/>
          </a:solidFill>
          <a:ln w="19050">
            <a:solidFill>
              <a:srgbClr val="FFB4A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0" y="4663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EF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⟫ EXECUTE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82880" y="1371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9D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Hand: 5 random cards from 10-card pool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82880" y="1645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9D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Cards cost RAM to play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8288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9D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Variable combos: x + loop mult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82880" y="2194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9D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Enemy intent shown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8288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9D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Terminal logs all actions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— BATTLE FLOW (Per Turn)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88720" y="1463040"/>
            <a:ext cx="1097280" cy="1097280"/>
          </a:xfrm>
          <a:prstGeom prst="ellipse">
            <a:avLst/>
          </a:prstGeom>
          <a:solidFill>
            <a:srgbClr val="009DDC">
              <a:alpha val="25000"/>
            </a:srgbClr>
          </a:solidFill>
          <a:ln w="25400">
            <a:solidFill>
              <a:srgbClr val="009D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9D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DRAW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F0F2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cards from pool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03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EF0F2">
                    <a:alpha val="50000"/>
                  </a:srgbClr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1097280" cy="1097280"/>
          </a:xfrm>
          <a:prstGeom prst="ellipse">
            <a:avLst/>
          </a:prstGeom>
          <a:solidFill>
            <a:srgbClr val="59D67A">
              <a:alpha val="25000"/>
            </a:srgbClr>
          </a:solidFill>
          <a:ln w="25400">
            <a:solidFill>
              <a:srgbClr val="59D6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9D6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92608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 CARDS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F0F2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RAM, combo x + loops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EF0F2">
                    <a:alpha val="50000"/>
                  </a:srgbClr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577840" y="1463040"/>
            <a:ext cx="1097280" cy="1097280"/>
          </a:xfrm>
          <a:prstGeom prst="ellipse">
            <a:avLst/>
          </a:prstGeom>
          <a:solidFill>
            <a:srgbClr val="FE5F55">
              <a:alpha val="25000"/>
            </a:srgbClr>
          </a:solidFill>
          <a:ln w="25400">
            <a:solidFill>
              <a:srgbClr val="FE5F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E5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12064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F0F2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turn, enemy attacks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494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EF0F2">
                    <a:alpha val="50000"/>
                  </a:srgbClr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772400" y="1463040"/>
            <a:ext cx="1097280" cy="1097280"/>
          </a:xfrm>
          <a:prstGeom prst="ellipse">
            <a:avLst/>
          </a:prstGeom>
          <a:solidFill>
            <a:srgbClr val="8957E5">
              <a:alpha val="25000"/>
            </a:srgbClr>
          </a:solidFill>
          <a:ln w="25400">
            <a:solidFill>
              <a:srgbClr val="8957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57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1520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EF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F0F2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Win/loss or continue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CARD COMBOS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8 → ATTACK(x)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4297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8 damage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663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8 → x *= 2 → ATTACK(x)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4663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E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16 damage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5029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(2x) → ATTACK(x)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5029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95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double damage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5394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DEFENSE(8) → PURGE()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5394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D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8 damage from block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5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ENEMY BEHAVIOR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0" y="42976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Intent shown before attack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Attack / Defend / Buff cycle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Damage scales per node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Telegraph → Lunge → Impact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957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— NODE PROGRESSION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103120" cy="2560320"/>
          </a:xfrm>
          <a:prstGeom prst="roundRect">
            <a:avLst>
              <a:gd name="adj" fmla="val 6522"/>
            </a:avLst>
          </a:prstGeom>
          <a:solidFill>
            <a:srgbClr val="59D67A">
              <a:alpha val="15000"/>
            </a:srgbClr>
          </a:solidFill>
          <a:ln w="25400">
            <a:solidFill>
              <a:srgbClr val="59D6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D67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D6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FIREWALL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9D6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DAEMON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 HP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ATK 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EF0F2">
                    <a:alpha val="50000"/>
                  </a:srgbClr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103120" cy="2560320"/>
          </a:xfrm>
          <a:prstGeom prst="roundRect">
            <a:avLst>
              <a:gd name="adj" fmla="val 6522"/>
            </a:avLst>
          </a:prstGeom>
          <a:solidFill>
            <a:srgbClr val="009DDC">
              <a:alpha val="15000"/>
            </a:srgbClr>
          </a:solidFill>
          <a:ln w="25400">
            <a:solidFill>
              <a:srgbClr val="009D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9DD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18288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D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INTRUSION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9D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WRAITH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 HP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0" y="3017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ATK 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EF0F2">
                    <a:alpha val="50000"/>
                  </a:srgbClr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669280" y="1371600"/>
            <a:ext cx="2103120" cy="2560320"/>
          </a:xfrm>
          <a:prstGeom prst="roundRect">
            <a:avLst>
              <a:gd name="adj" fmla="val 6522"/>
            </a:avLst>
          </a:prstGeom>
          <a:solidFill>
            <a:srgbClr val="F5C542">
              <a:alpha val="15000"/>
            </a:srgbClr>
          </a:solidFill>
          <a:ln w="25400">
            <a:solidFill>
              <a:srgbClr val="F5C5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542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18288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BOMBER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 HP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69280" y="3017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ATK 12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EF0F2">
                    <a:alpha val="50000"/>
                  </a:srgbClr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138160" y="1371600"/>
            <a:ext cx="2103120" cy="2560320"/>
          </a:xfrm>
          <a:prstGeom prst="roundRect">
            <a:avLst>
              <a:gd name="adj" fmla="val 6522"/>
            </a:avLst>
          </a:prstGeom>
          <a:solidFill>
            <a:srgbClr val="FE5F55">
              <a:alpha val="15000"/>
            </a:srgbClr>
          </a:solidFill>
          <a:ln w="25400">
            <a:solidFill>
              <a:srgbClr val="FE5F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5F55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38160" y="18288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E5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MAINFRAME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E5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3816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F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 HP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138160" y="3017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5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ATK 14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each node: Reward Screen (pick 1 of 3 upgrades)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0F2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run progress persists in localStorage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— REWARD SCREEN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0" y="1188720"/>
            <a:ext cx="6858000" cy="4114800"/>
          </a:xfrm>
          <a:prstGeom prst="roundRect">
            <a:avLst>
              <a:gd name="adj" fmla="val 4444"/>
            </a:avLst>
          </a:prstGeom>
          <a:solidFill>
            <a:srgbClr val="0B3D2E"/>
          </a:solidFill>
          <a:ln w="254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1371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D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SECURED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0" y="1645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CHOOSE REWARD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0" y="21945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F0F2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upgrade before the next node.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26080" y="274320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262A3A"/>
          </a:solidFill>
          <a:ln w="25400">
            <a:solidFill>
              <a:srgbClr val="59D6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9D6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926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D6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REPAIR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F0F2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+15 HP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274320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262A3A"/>
          </a:solidFill>
          <a:ln w="25400">
            <a:solidFill>
              <a:srgbClr val="009D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9D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D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OVERCLOCK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F0F2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Max RAM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32320" y="2743200"/>
            <a:ext cx="1828800" cy="2011680"/>
          </a:xfrm>
          <a:prstGeom prst="roundRect">
            <a:avLst>
              <a:gd name="adj" fmla="val 5000"/>
            </a:avLst>
          </a:prstGeom>
          <a:solidFill>
            <a:srgbClr val="262A3A"/>
          </a:solidFill>
          <a:ln w="25400">
            <a:solidFill>
              <a:srgbClr val="F5C5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13232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UPLINK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EF0F2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Max HP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9D6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— VICTORY &amp; DEFEAT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4754880" cy="4114800"/>
          </a:xfrm>
          <a:prstGeom prst="roundRect">
            <a:avLst>
              <a:gd name="adj" fmla="val 4444"/>
            </a:avLst>
          </a:prstGeom>
          <a:solidFill>
            <a:srgbClr val="0B3D2E"/>
          </a:solidFill>
          <a:ln w="25400">
            <a:solidFill>
              <a:srgbClr val="59D6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D67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COMPLETE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9D6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VICTORY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breached the mainframe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deleted the Firewall Daemon.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36576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59D67A">
              <a:alpha val="30000"/>
            </a:srgbClr>
          </a:solidFill>
          <a:ln w="19050">
            <a:solidFill>
              <a:srgbClr val="59D6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F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▶ RUN AGAIN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4754880" cy="4114800"/>
          </a:xfrm>
          <a:prstGeom prst="roundRect">
            <a:avLst>
              <a:gd name="adj" fmla="val 4444"/>
            </a:avLst>
          </a:prstGeom>
          <a:solidFill>
            <a:srgbClr val="0B3D2E"/>
          </a:solidFill>
          <a:ln w="25400">
            <a:solidFill>
              <a:srgbClr val="FE5F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5F55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LOST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9202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E5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FAILURE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enemy overwhelmed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system.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36576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E5F55">
              <a:alpha val="30000"/>
            </a:srgbClr>
          </a:solidFill>
          <a:ln w="19050">
            <a:solidFill>
              <a:srgbClr val="FE5F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F0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▶ RUN AGAIN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D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— COMPLETE FLOW 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E5F55">
              <a:alpha val="20000"/>
            </a:srgbClr>
          </a:solidFill>
          <a:ln w="19050">
            <a:solidFill>
              <a:srgbClr val="FE5F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E5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SPLASH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164592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0F2">
                    <a:alpha val="50000"/>
                  </a:srgbClr>
                </a:solidFill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3120" y="16459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09DDC">
              <a:alpha val="20000"/>
            </a:srgbClr>
          </a:solidFill>
          <a:ln w="19050">
            <a:solidFill>
              <a:srgbClr val="009D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6459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D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0F2">
                    <a:alpha val="50000"/>
                  </a:srgbClr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49040" y="16459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59D67A">
              <a:alpha val="20000"/>
            </a:srgbClr>
          </a:solidFill>
          <a:ln w="19050">
            <a:solidFill>
              <a:srgbClr val="59D6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6459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D6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9D6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20640" y="164592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0F2">
                    <a:alpha val="50000"/>
                  </a:srgbClr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94960" y="16459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5C542">
              <a:alpha val="20000"/>
            </a:srgbClr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6459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REWARD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66560" y="164592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0F2">
                    <a:alpha val="50000"/>
                  </a:srgbClr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40880" y="16459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59D67A">
              <a:alpha val="20000"/>
            </a:srgbClr>
          </a:solidFill>
          <a:ln w="19050">
            <a:solidFill>
              <a:srgbClr val="59D6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6459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D6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9D6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0" y="164592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0F2">
                    <a:alpha val="50000"/>
                  </a:srgbClr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0" y="16459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5C542">
              <a:alpha val="20000"/>
            </a:srgbClr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16459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REWARD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0" y="164592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0F2">
                    <a:alpha val="50000"/>
                  </a:srgbClr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332720" y="164592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59D67A">
              <a:alpha val="20000"/>
            </a:srgbClr>
          </a:solidFill>
          <a:ln w="19050">
            <a:solidFill>
              <a:srgbClr val="59D6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0" y="16459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D6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9D6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 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49040" y="29260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E5F55">
              <a:alpha val="30000"/>
            </a:srgbClr>
          </a:solidFill>
          <a:ln w="25400">
            <a:solidFill>
              <a:srgbClr val="FE5F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29260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E5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E5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0" y="29260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59D67A">
              <a:alpha val="30000"/>
            </a:srgbClr>
          </a:solidFill>
          <a:ln w="25400">
            <a:solidFill>
              <a:srgbClr val="59D6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29260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D6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VICTORY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402336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E5F55">
              <a:alpha val="30000"/>
            </a:srgbClr>
          </a:solidFill>
          <a:ln w="25400">
            <a:solidFill>
              <a:srgbClr val="FE5F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40233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5F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DEFEAT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Paths: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931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→ CARD ARCHIVE (modal)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→ HOW TO PLAY (modal)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→ MENU → HOME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screen → Escape closes modals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32004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build step — vanilla JS ES modules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Audio API (zero audio files)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Vendored motion library (offline)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Keyboard accessible + focus traps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Reduced-motion support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QA harness (CDP tests)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EEF0F2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localStorage best-run tracking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SYNTACK — Game Flow Storyboard</dc:title>
  <dc:subject>PptxGenJS Presentation</dc:subject>
  <dc:creator>SYNTACK</dc:creator>
  <cp:lastModifiedBy>SYNTACK</cp:lastModifiedBy>
  <cp:revision>1</cp:revision>
  <dcterms:created xsi:type="dcterms:W3CDTF">2026-08-20T02:04:42Z</dcterms:created>
  <dcterms:modified xsi:type="dcterms:W3CDTF">2026-08-20T02:04:42Z</dcterms:modified>
</cp:coreProperties>
</file>